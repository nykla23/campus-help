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0" r:id="rId5"/>
    <p:sldId id="261" r:id="rId6"/>
    <p:sldId id="258" r:id="rId7"/>
    <p:sldId id="259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zh-CN" sz="4890" b="1">
                <a:latin typeface="+mj-ea"/>
                <a:cs typeface="+mj-ea"/>
              </a:rPr>
              <a:t>校园帮小程序（</a:t>
            </a:r>
            <a:r>
              <a:rPr lang="en-US" altLang="zh-CN" sz="4890" b="1">
                <a:latin typeface="+mj-ea"/>
                <a:cs typeface="+mj-ea"/>
              </a:rPr>
              <a:t>Campus-Help</a:t>
            </a:r>
            <a:r>
              <a:rPr lang="zh-CN" altLang="en-US" sz="4890" b="1">
                <a:latin typeface="+mj-ea"/>
                <a:cs typeface="+mj-ea"/>
              </a:rPr>
              <a:t>）</a:t>
            </a:r>
            <a:br>
              <a:rPr lang="zh-CN" altLang="en-US" sz="4890" b="1">
                <a:latin typeface="+mj-ea"/>
                <a:cs typeface="+mj-ea"/>
              </a:rPr>
            </a:br>
            <a:r>
              <a:rPr lang="zh-CN" altLang="en-US" sz="4890" b="1">
                <a:latin typeface="+mj-ea"/>
                <a:cs typeface="+mj-ea"/>
              </a:rPr>
              <a:t>中期汇报</a:t>
            </a:r>
            <a:endParaRPr lang="zh-CN" altLang="en-US" sz="4890" b="1">
              <a:latin typeface="+mj-ea"/>
              <a:cs typeface="+mj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4692650"/>
            <a:ext cx="9799320" cy="1060450"/>
          </a:xfrm>
        </p:spPr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汇报人：欧宝莲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2312190401|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2026.05.20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26765"/>
            <a:ext cx="10969200" cy="705600"/>
          </a:xfrm>
        </p:spPr>
        <p:txBody>
          <a:bodyPr/>
          <a:p>
            <a:r>
              <a:rPr lang="zh-CN" altLang="en-US"/>
              <a:t>当前进展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t="1899" r="9470"/>
          <a:stretch>
            <a:fillRect/>
          </a:stretch>
        </p:blipFill>
        <p:spPr>
          <a:xfrm>
            <a:off x="608330" y="1506855"/>
            <a:ext cx="3933825" cy="49415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8330" y="1035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计划：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713095" y="10356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实际完成</a:t>
            </a:r>
            <a:r>
              <a:rPr lang="zh-CN" altLang="en-US"/>
              <a:t>情况：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713095" y="1403985"/>
            <a:ext cx="5769610" cy="498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/>
            <a:r>
              <a:rPr lang="zh-CN" altLang="en-US">
                <a:latin typeface="+mn-ea"/>
                <a:cs typeface="+mn-ea"/>
              </a:rPr>
              <a:t>UI 设计（Figma 原型 + 设计规范）	100%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前端页面开发（8 个核心页面）	100%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后端 API 开发（约 25 个接口）	100%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数据库设计（4 张表 + 事务）	100%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软件测试（</a:t>
            </a:r>
            <a:r>
              <a:rPr lang="en-US" altLang="zh-CN">
                <a:latin typeface="+mn-ea"/>
                <a:cs typeface="+mn-ea"/>
              </a:rPr>
              <a:t>287</a:t>
            </a:r>
            <a:r>
              <a:rPr lang="zh-CN" altLang="en-US">
                <a:latin typeface="+mn-ea"/>
                <a:cs typeface="+mn-ea"/>
              </a:rPr>
              <a:t> 个测试）	</a:t>
            </a:r>
            <a:r>
              <a:rPr lang="en-US" altLang="zh-CN">
                <a:latin typeface="+mn-ea"/>
                <a:cs typeface="+mn-ea"/>
              </a:rPr>
              <a:t>              100</a:t>
            </a:r>
            <a:r>
              <a:rPr lang="zh-CN" altLang="en-US">
                <a:latin typeface="+mn-ea"/>
                <a:cs typeface="+mn-ea"/>
              </a:rPr>
              <a:t>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CI/CD 流水线</a:t>
            </a:r>
            <a:r>
              <a:rPr lang="en-US" altLang="zh-CN">
                <a:latin typeface="+mn-ea"/>
                <a:cs typeface="+mn-ea"/>
              </a:rPr>
              <a:t>			</a:t>
            </a:r>
            <a:r>
              <a:rPr lang="zh-CN" altLang="en-US">
                <a:latin typeface="+mn-ea"/>
                <a:cs typeface="+mn-ea"/>
              </a:rPr>
              <a:t>100%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AI 智能客服</a:t>
            </a:r>
            <a:r>
              <a:rPr lang="en-US" altLang="zh-CN">
                <a:latin typeface="+mn-ea"/>
                <a:cs typeface="+mn-ea"/>
              </a:rPr>
              <a:t>		</a:t>
            </a:r>
            <a:r>
              <a:rPr lang="zh-CN" altLang="en-US">
                <a:latin typeface="+mn-ea"/>
                <a:cs typeface="+mn-ea"/>
              </a:rPr>
              <a:t>	100%</a:t>
            </a:r>
            <a:endParaRPr lang="zh-CN" altLang="en-US">
              <a:latin typeface="+mn-ea"/>
              <a:cs typeface="+mn-ea"/>
            </a:endParaRPr>
          </a:p>
          <a:p>
            <a:pPr indent="0" fontAlgn="auto"/>
            <a:r>
              <a:rPr lang="zh-CN" altLang="en-US">
                <a:latin typeface="+mn-ea"/>
                <a:cs typeface="+mn-ea"/>
              </a:rPr>
              <a:t>Docker 容器化部署	</a:t>
            </a:r>
            <a:r>
              <a:rPr lang="en-US" altLang="zh-CN">
                <a:latin typeface="+mn-ea"/>
                <a:cs typeface="+mn-ea"/>
              </a:rPr>
              <a:t>	</a:t>
            </a:r>
            <a:r>
              <a:rPr lang="zh-CN" altLang="en-US">
                <a:latin typeface="+mn-ea"/>
                <a:cs typeface="+mn-ea"/>
              </a:rPr>
              <a:t>100% </a:t>
            </a:r>
            <a:endParaRPr lang="zh-CN" altLang="en-US">
              <a:latin typeface="+mn-ea"/>
              <a:cs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功能完成情况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>
                <a:latin typeface="+mn-ea"/>
                <a:cs typeface="+mn-ea"/>
              </a:rPr>
              <a:t>   </a:t>
            </a:r>
            <a:r>
              <a:rPr lang="zh-CN" altLang="en-US" b="1">
                <a:latin typeface="+mn-ea"/>
                <a:cs typeface="+mn-ea"/>
              </a:rPr>
              <a:t>功能模块</a:t>
            </a:r>
            <a:r>
              <a:rPr lang="zh-CN" altLang="en-US">
                <a:latin typeface="+mn-ea"/>
                <a:cs typeface="+mn-ea"/>
              </a:rPr>
              <a:t>	</a:t>
            </a:r>
            <a:r>
              <a:rPr lang="zh-CN" altLang="en-US" b="1">
                <a:latin typeface="+mn-ea"/>
                <a:cs typeface="+mn-ea"/>
              </a:rPr>
              <a:t>具体功能</a:t>
            </a:r>
            <a:endParaRPr lang="zh-CN" altLang="en-US" b="1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用户认证	注册、登录、JWT 鉴权、密码加密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任务系统	发布 / 列表（分页+筛选+搜索）/ 详情 / 接单 / 提交完成 / 确认完成（含结算）</a:t>
            </a:r>
            <a:r>
              <a:rPr lang="en-US" altLang="zh-CN">
                <a:latin typeface="+mn-ea"/>
                <a:cs typeface="+mn-ea"/>
              </a:rPr>
              <a:t>		</a:t>
            </a:r>
            <a:r>
              <a:rPr lang="zh-CN" altLang="en-US">
                <a:latin typeface="+mn-ea"/>
                <a:cs typeface="+mn-ea"/>
              </a:rPr>
              <a:t>/ 取消 / 放弃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消息系统	消息列表、聊天详情、实时推送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个人主页	信息展示、发布/接单/交易记录切换、修改昵称/签名/头像/密码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AI 智能客服	Cloudflare Workers AI 驱动、对话历史保留、悬浮按钮入口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实时通信	Socket.IO 全局连接、事件总线分发、任务状态即时通知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头像系统	上传/静态服务/base64 双模式</a:t>
            </a:r>
            <a:endParaRPr lang="zh-CN" altLang="en-US">
              <a:latin typeface="+mn-ea"/>
              <a:cs typeface="+mn-ea"/>
            </a:endParaRPr>
          </a:p>
          <a:p>
            <a:r>
              <a:rPr lang="zh-CN" altLang="en-US">
                <a:latin typeface="+mn-ea"/>
                <a:cs typeface="+mn-ea"/>
              </a:rPr>
              <a:t>Docker 部署：前后端 + 数据库一键容器化启动</a:t>
            </a:r>
            <a:endParaRPr lang="zh-CN" altLang="en-US">
              <a:latin typeface="+mn-ea"/>
              <a:cs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测试覆盖率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2000" b="1"/>
              <a:t>前端测试：</a:t>
            </a:r>
            <a:endParaRPr lang="zh-CN" altLang="en-US" sz="2000" b="1"/>
          </a:p>
          <a:p>
            <a:r>
              <a:rPr lang="en-US" altLang="zh-CN" sz="2000"/>
              <a:t>11</a:t>
            </a:r>
            <a:r>
              <a:rPr lang="zh-CN" altLang="en-US" sz="2000"/>
              <a:t> 个套件，</a:t>
            </a:r>
            <a:r>
              <a:rPr lang="en-US" altLang="zh-CN" sz="2000"/>
              <a:t>162</a:t>
            </a:r>
            <a:r>
              <a:rPr lang="zh-CN" altLang="en-US" sz="2000"/>
              <a:t> 个测试全部通过</a:t>
            </a:r>
            <a:endParaRPr lang="zh-CN" altLang="en-US" sz="2000"/>
          </a:p>
          <a:p>
            <a:r>
              <a:rPr lang="zh-CN" altLang="en-US" sz="2000"/>
              <a:t>整体覆盖率：72.97%</a:t>
            </a:r>
            <a:endParaRPr lang="zh-CN" altLang="en-US" sz="2000"/>
          </a:p>
          <a:p>
            <a:r>
              <a:rPr lang="zh-CN" altLang="en-US"/>
              <a:t>覆盖登录、注册、发布、个人主页、任务详情、聊天、消息、AI 客服</a:t>
            </a:r>
            <a:endParaRPr lang="zh-CN" altLang="en-US"/>
          </a:p>
          <a:p>
            <a:pPr marL="0" indent="0">
              <a:buNone/>
            </a:pPr>
            <a:r>
              <a:rPr lang="zh-CN" altLang="en-US" sz="2000" b="1"/>
              <a:t>后端测试：</a:t>
            </a:r>
            <a:endParaRPr lang="zh-CN" altLang="en-US" sz="2000" b="1"/>
          </a:p>
          <a:p>
            <a:r>
              <a:rPr lang="en-US" altLang="zh-CN" sz="2000"/>
              <a:t>3</a:t>
            </a:r>
            <a:r>
              <a:rPr lang="zh-CN" altLang="en-US" sz="2000"/>
              <a:t> 个测试套件，</a:t>
            </a:r>
            <a:r>
              <a:rPr lang="en-US" altLang="zh-CN" sz="2000"/>
              <a:t>125</a:t>
            </a:r>
            <a:r>
              <a:rPr lang="zh-CN" altLang="en-US" sz="2000"/>
              <a:t> 个用例</a:t>
            </a:r>
            <a:r>
              <a:rPr lang="zh-CN" altLang="en-US" sz="2000">
                <a:sym typeface="+mn-ea"/>
              </a:rPr>
              <a:t>全部通过</a:t>
            </a:r>
            <a:endParaRPr lang="zh-CN" altLang="en-US" sz="2000">
              <a:sym typeface="+mn-ea"/>
            </a:endParaRPr>
          </a:p>
          <a:p>
            <a:r>
              <a:rPr lang="zh-CN" altLang="en-US" sz="2000"/>
              <a:t>整体覆盖率：93.13%</a:t>
            </a:r>
            <a:endParaRPr lang="zh-CN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个人工作总结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5483860" cy="2558415"/>
          </a:xfrm>
        </p:spPr>
        <p:txBody>
          <a:bodyPr>
            <a:noAutofit/>
          </a:bodyPr>
          <a:p>
            <a:pPr marL="0" indent="0" algn="l">
              <a:lnSpc>
                <a:spcPct val="100000"/>
              </a:lnSpc>
              <a:buClrTx/>
              <a:buSzTx/>
              <a:buNone/>
            </a:pPr>
            <a:r>
              <a:rPr lang="zh-CN" altLang="en-US" sz="2000" b="1" spc="0">
                <a:solidFill>
                  <a:schemeClr val="tx1"/>
                </a:solidFill>
              </a:rPr>
              <a:t>后端（Node.js + Express + MySQL）</a:t>
            </a:r>
            <a:endParaRPr lang="zh-CN" altLang="en-US" sz="2000" b="1" spc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spc="0">
                <a:solidFill>
                  <a:schemeClr val="tx1"/>
                </a:solidFill>
              </a:rPr>
              <a:t>约 25 个 RESTful API 接口</a:t>
            </a:r>
            <a:endParaRPr lang="zh-CN" altLang="en-US" sz="1800" spc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spc="0">
                <a:solidFill>
                  <a:schemeClr val="tx1"/>
                </a:solidFill>
              </a:rPr>
              <a:t>JWT 认证、bcrypt 密码加密、事务处理</a:t>
            </a:r>
            <a:endParaRPr lang="zh-CN" altLang="en-US" sz="1800" spc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spc="0">
                <a:solidFill>
                  <a:schemeClr val="tx1"/>
                </a:solidFill>
              </a:rPr>
              <a:t>Socket.IO 实时通信、文件上传与静态服务</a:t>
            </a:r>
            <a:endParaRPr lang="zh-CN" altLang="en-US" sz="1800" spc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800" spc="0">
                <a:solidFill>
                  <a:schemeClr val="tx1"/>
                </a:solidFill>
              </a:rPr>
              <a:t>全局错误处理、环境变量管理</a:t>
            </a:r>
            <a:endParaRPr lang="zh-CN" altLang="en-US" sz="1800" spc="0">
              <a:solidFill>
                <a:schemeClr val="tx1"/>
              </a:solidFill>
            </a:endParaRPr>
          </a:p>
          <a:p>
            <a:pPr marL="0" algn="l">
              <a:lnSpc>
                <a:spcPct val="100000"/>
              </a:lnSpc>
              <a:buClrTx/>
              <a:buSzTx/>
            </a:pPr>
            <a:endParaRPr lang="zh-CN" altLang="en-US" sz="1800" spc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2825" y="1490345"/>
            <a:ext cx="406400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ym typeface="+mn-ea"/>
              </a:rPr>
              <a:t>前端（微信小程序）</a:t>
            </a:r>
            <a:endParaRPr lang="zh-CN" altLang="en-US" sz="2000" b="1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8 个核心页面、全量功能实现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统一请求封装、头像缓存、时间格式化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WebSocket 全局连接、事件总线分发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08330" y="4339590"/>
            <a:ext cx="548449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lnSpc>
                <a:spcPct val="100000"/>
              </a:lnSpc>
              <a:buClrTx/>
              <a:buSzTx/>
            </a:pPr>
            <a:r>
              <a:rPr lang="zh-CN" altLang="en-US" sz="2000" b="1">
                <a:sym typeface="+mn-ea"/>
              </a:rPr>
              <a:t>测试与工程化</a:t>
            </a:r>
            <a:endParaRPr lang="zh-CN" altLang="en-US" sz="2000" b="1" spc="0">
              <a:solidFill>
                <a:schemeClr val="tx1"/>
              </a:solidFill>
            </a:endParaRPr>
          </a:p>
          <a:p>
            <a:pPr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endParaRPr lang="zh-CN" altLang="en-US">
              <a:uFillTx/>
              <a:sym typeface="+mn-ea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>
                <a:uFillTx/>
                <a:sym typeface="+mn-ea"/>
              </a:rPr>
              <a:t>编写 287 个前后端 Jest 测试用例，全部通过</a:t>
            </a:r>
            <a:r>
              <a:rPr lang="zh-CN">
                <a:uFillTx/>
                <a:sym typeface="+mn-ea"/>
              </a:rPr>
              <a:t>。</a:t>
            </a:r>
            <a:r>
              <a:rPr>
                <a:uFillTx/>
                <a:sym typeface="+mn-ea"/>
              </a:rPr>
              <a:t>前端覆盖率 72.97%，后端覆盖率 93.13%</a:t>
            </a:r>
            <a:endParaRPr>
              <a:uFillTx/>
              <a:sym typeface="+mn-ea"/>
            </a:endParaRPr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uFillTx/>
                <a:sym typeface="+mn-ea"/>
              </a:rPr>
              <a:t>CI/CD 流水线 + 代码规范检查</a:t>
            </a:r>
            <a:endParaRPr lang="zh-CN" altLang="en-US">
              <a:uFillTx/>
              <a:sym typeface="+mn-ea"/>
            </a:endParaRPr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01365"/>
            <a:ext cx="10969200" cy="705600"/>
          </a:xfrm>
        </p:spPr>
        <p:txBody>
          <a:bodyPr/>
          <a:p>
            <a:r>
              <a:rPr lang="zh-CN" altLang="en-US"/>
              <a:t>主要页面</a:t>
            </a:r>
            <a:r>
              <a:rPr lang="zh-CN" altLang="en-US"/>
              <a:t>展示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490980"/>
            <a:ext cx="2269490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490" y="1491615"/>
            <a:ext cx="2251710" cy="47586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1491615"/>
            <a:ext cx="2292350" cy="47586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550" y="1491615"/>
            <a:ext cx="2256155" cy="475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9705" y="1478280"/>
            <a:ext cx="2279650" cy="47707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1255" y="2098040"/>
            <a:ext cx="2227580" cy="47599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06400" y="6343015"/>
            <a:ext cx="730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首页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875280" y="6343015"/>
            <a:ext cx="971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发布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203825" y="6343015"/>
            <a:ext cx="1137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个人主页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189470" y="6343015"/>
            <a:ext cx="1341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任务详情</a:t>
            </a:r>
            <a:r>
              <a:rPr lang="zh-CN" altLang="en-US"/>
              <a:t>页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193530" y="6343015"/>
            <a:ext cx="984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聊天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MjhlMDIxYjRkNTdjZmEyMTg1MmI2MTAzZWYzNzc2Yj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WPS 演示</Application>
  <PresentationFormat>宽屏</PresentationFormat>
  <Paragraphs>75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校园帮小程序（Campus-Help） 中期汇报</vt:lpstr>
      <vt:lpstr>当前进展</vt:lpstr>
      <vt:lpstr>功能完成情况</vt:lpstr>
      <vt:lpstr>测试覆盖率</vt:lpstr>
      <vt:lpstr>个人工作总结</vt:lpstr>
      <vt:lpstr>主要页面展示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</cp:lastModifiedBy>
  <cp:revision>161</cp:revision>
  <dcterms:created xsi:type="dcterms:W3CDTF">2019-06-19T02:08:00Z</dcterms:created>
  <dcterms:modified xsi:type="dcterms:W3CDTF">2026-05-20T10:10:02Z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B8C596FCD6D14A46B46DEBC051A04CEF_11</vt:lpwstr>
  </property>
</Properties>
</file>